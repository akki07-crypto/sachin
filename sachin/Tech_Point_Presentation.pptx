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926080"/>
            <a:ext cx="109728" cy="201168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743200"/>
            <a:ext cx="100584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TECH. POINT ACADEMY</a:t>
            </a:r>
          </a:p>
          <a:p>
            <a:pPr>
              <a:spcBef>
                <a:spcPts val="1000"/>
              </a:spcBef>
              <a:defRPr sz="2200">
                <a:solidFill>
                  <a:srgbClr val="00F2FE"/>
                </a:solidFill>
                <a:latin typeface="Arial"/>
              </a:defRPr>
            </a:pPr>
            <a:r>
              <a:t>Modern Animated Web Platform &amp; Secure Backend</a:t>
            </a:r>
          </a:p>
          <a:p>
            <a:pPr>
              <a:spcBef>
                <a:spcPts val="2000"/>
              </a:spcBef>
              <a:defRPr sz="1600" i="1">
                <a:solidFill>
                  <a:srgbClr val="B0B5C6"/>
                </a:solidFill>
                <a:latin typeface="Arial"/>
              </a:defRPr>
            </a:pPr>
            <a:r>
              <a:t>Coding Your Thoughts Into Reality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Project Overview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F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800">
                <a:solidFill>
                  <a:srgbClr val="FFFFFF"/>
                </a:solidFill>
              </a:defRPr>
            </a:pPr>
            <a:r>
              <a:t>Tech. Point is a premier training center focused on transforming student ideas into real-world IT and engineering deliverables. This project establishes a premium online presence and centralized inquiries database.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•  Modern Gen-Z Design System: </a:t>
            </a:r>
            <a:r>
              <a:rPr b="0">
                <a:solidFill>
                  <a:srgbClr val="B0B5C6"/>
                </a:solidFill>
              </a:rPr>
              <a:t>Vibrant neon-indigo layout featuring glassmorphism, responsive grids, and fluid scroll-reveal animations.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•  Interactive Skills &amp; Portfolios: </a:t>
            </a:r>
            <a:r>
              <a:rPr b="0">
                <a:solidFill>
                  <a:srgbClr val="B0B5C6"/>
                </a:solidFill>
              </a:rPr>
              <a:t>Interactive horizontal tabs showcasing training course curricula, vertical ECE/CSE project tabs, and stats counters.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•  Persistent Local Database: </a:t>
            </a:r>
            <a:r>
              <a:rPr b="0">
                <a:solidFill>
                  <a:srgbClr val="B0B5C6"/>
                </a:solidFill>
              </a:rPr>
              <a:t>A lightweight, custom Node.js server logging queries to a local JSON file without bulky database installations.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•  Guarded Administrator Portal: </a:t>
            </a:r>
            <a:r>
              <a:rPr b="0">
                <a:solidFill>
                  <a:srgbClr val="B0B5C6"/>
                </a:solidFill>
              </a:rPr>
              <a:t>A restricted dashboard protected by authentication tokens, allowing staff to securely manage client leads.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Modern Frontend &amp; UI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F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600"/>
              </a:spcAft>
              <a:defRPr sz="2000" b="1">
                <a:solidFill>
                  <a:srgbClr val="00F2FE"/>
                </a:solidFill>
              </a:defRPr>
            </a:pPr>
            <a:r>
              <a:t>Hero Terminal</a:t>
            </a:r>
          </a:p>
          <a:p>
            <a:pPr>
              <a:lnSpc>
                <a:spcPct val="130000"/>
              </a:lnSpc>
              <a:defRPr sz="1400">
                <a:solidFill>
                  <a:srgbClr val="B0B5C6"/>
                </a:solidFill>
              </a:defRPr>
            </a:pPr>
            <a:r>
              <a:t>A simulated shell interface rendering dynamic typing animations (`classify_ai.py`, `wp-config.php`). Boosts professional coder aesthetics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600"/>
              </a:spcAft>
              <a:defRPr sz="2000" b="1">
                <a:solidFill>
                  <a:srgbClr val="00F2FE"/>
                </a:solidFill>
              </a:defRPr>
            </a:pPr>
            <a:r>
              <a:t>Course Tab Matrices</a:t>
            </a:r>
          </a:p>
          <a:p>
            <a:pPr>
              <a:lnSpc>
                <a:spcPct val="130000"/>
              </a:lnSpc>
              <a:defRPr sz="1400">
                <a:solidFill>
                  <a:srgbClr val="B0B5C6"/>
                </a:solidFill>
              </a:defRPr>
            </a:pPr>
            <a:r>
              <a:t>Smooth horizontal layout switching between Web, Python &amp; AI, Cloud &amp; DevOps, and ECE/CSE branches. Renders custom charts and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141826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600"/>
              </a:spcAft>
              <a:defRPr sz="2000" b="1">
                <a:solidFill>
                  <a:srgbClr val="00F2FE"/>
                </a:solidFill>
              </a:defRPr>
            </a:pPr>
            <a:r>
              <a:t>Stats &amp; Counters</a:t>
            </a:r>
          </a:p>
          <a:p>
            <a:pPr>
              <a:lnSpc>
                <a:spcPct val="130000"/>
              </a:lnSpc>
              <a:defRPr sz="1400">
                <a:solidFill>
                  <a:srgbClr val="B0B5C6"/>
                </a:solidFill>
              </a:defRPr>
            </a:pPr>
            <a:r>
              <a:t>An Intersection Observer script triggers progress bars to fill up and stats (400+ projects completed) to count up when scrolled into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Lightweight Node.js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F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Core Backend Features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✔  Zero external npm packages</a:t>
            </a:r>
            <a:br/>
            <a:r>
              <a:rPr b="0" sz="1300">
                <a:solidFill>
                  <a:srgbClr val="B0B5C6"/>
                </a:solidFill>
              </a:rPr>
              <a:t>Runs entirely using built-in modules (`http`, `fs`, `path`) for maximum deployment speed and zero vulnerability.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✔  Dynamic Port Allocation</a:t>
            </a:r>
            <a:br/>
            <a:r>
              <a:rPr b="0" sz="1300">
                <a:solidFill>
                  <a:srgbClr val="B0B5C6"/>
                </a:solidFill>
              </a:rPr>
              <a:t>Checks for `EADDRINUSE` errors and automatically scans subsequent ports (starting from 3030). Ensures 100% startup reliability.</a:t>
            </a:r>
          </a:p>
          <a:p>
            <a:pPr>
              <a:spcAft>
                <a:spcPts val="1200"/>
              </a:spcAft>
              <a:defRPr b="1" sz="1500">
                <a:solidFill>
                  <a:srgbClr val="00F2FE"/>
                </a:solidFill>
              </a:defRPr>
            </a:pPr>
            <a:r>
              <a:t>✔  API endpoints routing</a:t>
            </a:r>
            <a:br/>
            <a:r>
              <a:rPr b="0" sz="1300">
                <a:solidFill>
                  <a:srgbClr val="B0B5C6"/>
                </a:solidFill>
              </a:rPr>
              <a:t>Handles `POST /api/contact` requests, validates forms, and saves data to `contacts.json` locally.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840480"/>
          </a:xfrm>
          <a:prstGeom prst="roundRect">
            <a:avLst/>
          </a:prstGeom>
          <a:solidFill>
            <a:srgbClr val="141826"/>
          </a:solidFill>
          <a:ln>
            <a:solidFill>
              <a:srgbClr val="F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bIns="365760"/>
          <a:lstStyle/>
          <a:p>
            <a:pPr algn="ctr">
              <a:spcAft>
                <a:spcPts val="1200"/>
              </a:spcAft>
              <a:defRPr sz="1400" b="1">
                <a:solidFill>
                  <a:srgbClr val="B0B5C6"/>
                </a:solidFill>
                <a:latin typeface="Courier New"/>
              </a:defRPr>
            </a:pPr>
            <a:r>
              <a:t>server.js snippet: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const http = require('http');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const fs = require('fs');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// Save submission to database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fs.writeFile(DATABASE, JSON.stringify(data), err =&gt; {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  if (!err) {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    res.writeHead(200, {'Content-Type': 'json'});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    res.end(JSON.stringify({ success: true }));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  }</a:t>
            </a:r>
          </a:p>
          <a:p>
            <a:pPr>
              <a:defRPr sz="1300">
                <a:solidFill>
                  <a:srgbClr val="FFFFFF"/>
                </a:solidFill>
                <a:latin typeface="Courier New"/>
              </a:defRPr>
            </a:pPr>
            <a:r>
              <a:t>});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Security Framework &amp;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F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FFFFFF"/>
                </a:solidFill>
              </a:defRPr>
            </a:pPr>
            <a:r>
              <a:t>Guarding Inquiries &amp; Data</a:t>
            </a:r>
          </a:p>
          <a:p>
            <a:pPr>
              <a:spcAft>
                <a:spcPts val="1400"/>
              </a:spcAft>
              <a:defRPr b="1" sz="1500">
                <a:solidFill>
                  <a:srgbClr val="F35588"/>
                </a:solidFill>
              </a:defRPr>
            </a:pPr>
            <a:r>
              <a:t>🔑  Guarded API Endpoint</a:t>
            </a:r>
            <a:br/>
            <a:r>
              <a:rPr b="0" sz="1300">
                <a:solidFill>
                  <a:srgbClr val="B0B5C6"/>
                </a:solidFill>
              </a:rPr>
              <a:t>The server blocks `GET /api/contacts` requests and throws a `401 Unauthorized` response unless a correct authorization header is supplied.</a:t>
            </a:r>
          </a:p>
          <a:p>
            <a:pPr>
              <a:spcAft>
                <a:spcPts val="1400"/>
              </a:spcAft>
              <a:defRPr b="1" sz="1500">
                <a:solidFill>
                  <a:srgbClr val="F35588"/>
                </a:solidFill>
              </a:defRPr>
            </a:pPr>
            <a:r>
              <a:t>🔑  Token-based Authorization</a:t>
            </a:r>
            <a:br/>
            <a:r>
              <a:rPr b="0" sz="1300">
                <a:solidFill>
                  <a:srgbClr val="B0B5C6"/>
                </a:solidFill>
              </a:rPr>
              <a:t>Logs admin credentials on `login.html` via `POST /api/login`. Stores token safely in client's `localStorage` for session authentication.</a:t>
            </a:r>
          </a:p>
          <a:p>
            <a:pPr>
              <a:spcAft>
                <a:spcPts val="1400"/>
              </a:spcAft>
              <a:defRPr b="1" sz="1500">
                <a:solidFill>
                  <a:srgbClr val="F35588"/>
                </a:solidFill>
              </a:defRPr>
            </a:pPr>
            <a:r>
              <a:t>🔑  Automatic Route Protection</a:t>
            </a:r>
            <a:br/>
            <a:r>
              <a:rPr b="0" sz="1300">
                <a:solidFill>
                  <a:srgbClr val="B0B5C6"/>
                </a:solidFill>
              </a:rPr>
              <a:t>If the dashboard detects no token, or if the server returns 401, the client automatically wipes local storage and redirects to the login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840480"/>
          </a:xfrm>
          <a:prstGeom prst="roundRect">
            <a:avLst/>
          </a:prstGeom>
          <a:solidFill>
            <a:srgbClr val="141826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bIns="365760"/>
          <a:lstStyle/>
          <a:p>
            <a:pPr algn="ctr">
              <a:spcAft>
                <a:spcPts val="2000"/>
              </a:spcAft>
              <a:defRPr sz="1800" b="1">
                <a:solidFill>
                  <a:srgbClr val="00F2FE"/>
                </a:solidFill>
              </a:defRPr>
            </a:pPr>
            <a:r>
              <a:t>Dashboard Mockup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👤  Prisha Verma   (p.verma@gmail.com)</a:t>
            </a:r>
            <a:br/>
            <a:r>
              <a:rPr b="0" sz="1200">
                <a:solidFill>
                  <a:srgbClr val="B0B5C6"/>
                </a:solidFill>
              </a:rPr>
              <a:t>     Inquiry: "Web Programming"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👤  Haley Whitley   (haley@outlook.com)</a:t>
            </a:r>
            <a:br/>
            <a:r>
              <a:rPr b="0" sz="1200">
                <a:solidFill>
                  <a:srgbClr val="B0B5C6"/>
                </a:solidFill>
              </a:rPr>
              <a:t>     Inquiry: "Academic Kit ECE"</a:t>
            </a:r>
          </a:p>
          <a:p>
            <a:pPr>
              <a:spcAft>
                <a:spcPts val="1000"/>
              </a:spcAft>
              <a:defRPr b="1" sz="1300">
                <a:solidFill>
                  <a:srgbClr val="FFFFFF"/>
                </a:solidFill>
              </a:defRPr>
            </a:pPr>
            <a:r>
              <a:t>👤  Amit Kumar   (amit.k@gmail.com)</a:t>
            </a:r>
            <a:br/>
            <a:r>
              <a:rPr b="0" sz="1200">
                <a:solidFill>
                  <a:srgbClr val="B0B5C6"/>
                </a:solidFill>
              </a:rPr>
              <a:t>     Inquiry: "Python &amp; AI Course"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Cloud Deployment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F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4114800"/>
          </a:xfrm>
          <a:prstGeom prst="roundRect">
            <a:avLst/>
          </a:prstGeom>
          <a:solidFill>
            <a:srgbClr val="141826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b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00F2FE"/>
                </a:solidFill>
              </a:defRPr>
            </a:pPr>
            <a:r>
              <a:t>Hosting on AWS EC2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1. Launch Ubuntu EC2 Instance.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2. Configure Security Group (Open Ports 80 &amp; 22).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3. SSH into instance and install Node.js &amp; Git.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4. Git clone the repository in the instance.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5. Start application in background on Port 80:</a:t>
            </a:r>
            <a:br/>
            <a:r>
              <a:t>    'PORT=80 sudo -E pm2 start server.js'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141826"/>
          </a:solidFill>
          <a:ln>
            <a:solidFill>
              <a:srgbClr val="F355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b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F35588"/>
                </a:solidFill>
              </a:defRPr>
            </a:pPr>
            <a:r>
              <a:t>Hosting on Render.com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1. Create free account on Render.com.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2. Click 'New Web Service' &amp; connect GitHub.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3. Select repository 'akki07-crypto/sachin'.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4. Configure root directory to 'sachin'.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5. Set start command to 'node server.js'.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</a:defRPr>
            </a:pPr>
            <a:r>
              <a:t>6. Click Deploy. Render allocates dynamic port &amp; publishes live URL.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Arial"/>
              </a:defRPr>
            </a:pPr>
            <a:r>
              <a:t>Future Enhancements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371600" cy="54864"/>
          </a:xfrm>
          <a:prstGeom prst="rect">
            <a:avLst/>
          </a:prstGeom>
          <a:solidFill>
            <a:srgbClr val="F355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b="1" sz="1500">
                <a:solidFill>
                  <a:srgbClr val="00F2FE"/>
                </a:solidFill>
              </a:defRPr>
            </a:pPr>
            <a:r>
              <a:t>🚀  Cloud Database Integration: </a:t>
            </a:r>
            <a:r>
              <a:rPr b="0">
                <a:solidFill>
                  <a:srgbClr val="B0B5C6"/>
                </a:solidFill>
              </a:rPr>
              <a:t>Transition from a local JSON file to a fully scalable cloud database cluster (e.g. MongoDB Atlas or PostgreSQL) for persistent, secure multi-user concurrent logs.</a:t>
            </a:r>
          </a:p>
          <a:p>
            <a:pPr>
              <a:spcAft>
                <a:spcPts val="1600"/>
              </a:spcAft>
              <a:defRPr b="1" sz="1500">
                <a:solidFill>
                  <a:srgbClr val="00F2FE"/>
                </a:solidFill>
              </a:defRPr>
            </a:pPr>
            <a:r>
              <a:t>🚀  Multi-Role User Dashboard: </a:t>
            </a:r>
            <a:r>
              <a:rPr b="0">
                <a:solidFill>
                  <a:srgbClr val="B0B5C6"/>
                </a:solidFill>
              </a:rPr>
              <a:t>Implement detailed student login dashboards to download learning tutorials, upload project reports, and review trainer feedback directly on-site.</a:t>
            </a:r>
          </a:p>
          <a:p>
            <a:pPr>
              <a:spcAft>
                <a:spcPts val="1600"/>
              </a:spcAft>
              <a:defRPr b="1" sz="1500">
                <a:solidFill>
                  <a:srgbClr val="00F2FE"/>
                </a:solidFill>
              </a:defRPr>
            </a:pPr>
            <a:r>
              <a:t>🚀  Payment Gateway Integration: </a:t>
            </a:r>
            <a:r>
              <a:rPr b="0">
                <a:solidFill>
                  <a:srgbClr val="B0B5C6"/>
                </a:solidFill>
              </a:rPr>
              <a:t>Connect secure payment APIs (such as Razorpay or Stripe) to allow direct online registration and fee collection for training modules.</a:t>
            </a:r>
          </a:p>
          <a:p>
            <a:pPr>
              <a:spcAft>
                <a:spcPts val="1600"/>
              </a:spcAft>
              <a:defRPr b="1" sz="1500">
                <a:solidFill>
                  <a:srgbClr val="00F2FE"/>
                </a:solidFill>
              </a:defRPr>
            </a:pPr>
            <a:r>
              <a:t>🚀  SMS &amp; Email Notifications: </a:t>
            </a:r>
            <a:r>
              <a:rPr b="0">
                <a:solidFill>
                  <a:srgbClr val="B0B5C6"/>
                </a:solidFill>
              </a:rPr>
              <a:t>Automate email/SMS responses confirming inquiry receipt to students, and notify administration teams instantly upon form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